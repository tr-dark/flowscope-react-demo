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483C8-F635-8076-F936-4F5DB274B0CA}" v="1" dt="2026-04-16T05:56:13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096808" userId="S::s096808_student.tu.kielce.pl#ext#@transitiontechnologiespsc.onmicrosoft.com::9359743a-c099-474e-8ce4-f77c078196fa" providerId="AD" clId="Web-{E3E483C8-F635-8076-F936-4F5DB274B0CA}"/>
    <pc:docChg chg="modSld">
      <pc:chgData name="s096808" userId="S::s096808_student.tu.kielce.pl#ext#@transitiontechnologiespsc.onmicrosoft.com::9359743a-c099-474e-8ce4-f77c078196fa" providerId="AD" clId="Web-{E3E483C8-F635-8076-F936-4F5DB274B0CA}" dt="2026-04-16T05:56:13.579" v="0" actId="20577"/>
      <pc:docMkLst>
        <pc:docMk/>
      </pc:docMkLst>
      <pc:sldChg chg="modSp">
        <pc:chgData name="s096808" userId="S::s096808_student.tu.kielce.pl#ext#@transitiontechnologiespsc.onmicrosoft.com::9359743a-c099-474e-8ce4-f77c078196fa" providerId="AD" clId="Web-{E3E483C8-F635-8076-F936-4F5DB274B0CA}" dt="2026-04-16T05:56:13.579" v="0" actId="20577"/>
        <pc:sldMkLst>
          <pc:docMk/>
          <pc:sldMk cId="0" sldId="257"/>
        </pc:sldMkLst>
        <pc:spChg chg="mod">
          <ac:chgData name="s096808" userId="S::s096808_student.tu.kielce.pl#ext#@transitiontechnologiespsc.onmicrosoft.com::9359743a-c099-474e-8ce4-f77c078196fa" providerId="AD" clId="Web-{E3E483C8-F635-8076-F936-4F5DB274B0CA}" dt="2026-04-16T05:56:13.579" v="0" actId="20577"/>
          <ac:spMkLst>
            <pc:docMk/>
            <pc:sldMk cId="0" sldId="25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AB6FC-1B58-457F-BA03-673DEEFD0D93}" type="datetimeFigureOut">
              <a:t>4/15/2026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5E4B6-FE3E-4298-A5DC-4FE2BCE5436A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914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560320"/>
            <a:ext cx="5029200" cy="5029200"/>
          </a:xfrm>
          <a:prstGeom prst="ellipse">
            <a:avLst/>
          </a:prstGeom>
          <a:solidFill>
            <a:srgbClr val="8EAFC0">
              <a:alpha val="45000"/>
            </a:srgbClr>
          </a:solidFill>
          <a:ln w="12700">
            <a:solidFill>
              <a:srgbClr val="8EAFC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097280"/>
            <a:ext cx="4114800" cy="4114800"/>
          </a:xfrm>
          <a:prstGeom prst="ellipse">
            <a:avLst/>
          </a:prstGeom>
          <a:solidFill>
            <a:srgbClr val="2B4C5E">
              <a:alpha val="40000"/>
            </a:srgbClr>
          </a:solidFill>
          <a:ln w="12700">
            <a:solidFill>
              <a:srgbClr val="2B4C5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4A7C8E">
              <a:alpha val="45000"/>
            </a:srgbClr>
          </a:solidFill>
          <a:ln w="12700">
            <a:solidFill>
              <a:srgbClr val="4A7C8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Działy IT działają na granicy wydolności systemowej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7772400" y="182880"/>
            <a:ext cx="1005840" cy="1005840"/>
          </a:xfrm>
          <a:prstGeom prst="ellipse">
            <a:avLst/>
          </a:prstGeom>
          <a:solidFill>
            <a:srgbClr val="2B4C5E">
              <a:alpha val="70000"/>
            </a:srgbClr>
          </a:solidFill>
          <a:ln w="12700">
            <a:solidFill>
              <a:srgbClr val="2B4C5E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822960"/>
            <a:ext cx="640080" cy="640080"/>
          </a:xfrm>
          <a:prstGeom prst="ellipse">
            <a:avLst/>
          </a:prstGeom>
          <a:solidFill>
            <a:srgbClr val="F5C89A">
              <a:alpha val="80000"/>
            </a:srgbClr>
          </a:solidFill>
          <a:ln w="12700">
            <a:solidFill>
              <a:srgbClr val="F5C89A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609344"/>
            <a:ext cx="4160520" cy="1463040"/>
          </a:xfrm>
          <a:prstGeom prst="rect">
            <a:avLst/>
          </a:prstGeom>
          <a:solidFill>
            <a:srgbClr val="8EAFC0">
              <a:alpha val="30000"/>
            </a:srgbClr>
          </a:solidFill>
          <a:ln w="12700">
            <a:solidFill>
              <a:srgbClr val="8EAFC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54480"/>
            <a:ext cx="109728" cy="146304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10 675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59436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87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zgłoszeń / miesiąc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9436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Przeciążenie wolumenem ticketów — liczba rośnie o 34% rok do roku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764024" y="1609344"/>
            <a:ext cx="4160520" cy="1463040"/>
          </a:xfrm>
          <a:prstGeom prst="rect">
            <a:avLst/>
          </a:prstGeom>
          <a:solidFill>
            <a:srgbClr val="8EAFC0">
              <a:alpha val="30000"/>
            </a:srgbClr>
          </a:solidFill>
          <a:ln w="12700">
            <a:solidFill>
              <a:srgbClr val="8EAFC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5544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554480"/>
            <a:ext cx="109728" cy="146304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45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16h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87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 dziennie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Manualny triage zajmuje 5–10 min na każde zgłoszenie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20624" y="3209544"/>
            <a:ext cx="4160520" cy="1463040"/>
          </a:xfrm>
          <a:prstGeom prst="rect">
            <a:avLst/>
          </a:prstGeom>
          <a:solidFill>
            <a:srgbClr val="8EAFC0">
              <a:alpha val="30000"/>
            </a:srgbClr>
          </a:solidFill>
          <a:ln w="12700">
            <a:solidFill>
              <a:srgbClr val="8EAFC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546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54680"/>
            <a:ext cx="109728" cy="146304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46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9h</a:t>
            </a:r>
            <a:endParaRPr lang="en-US" sz="3000"/>
          </a:p>
        </p:txBody>
      </p:sp>
      <p:sp>
        <p:nvSpPr>
          <p:cNvPr id="26" name="Text 24"/>
          <p:cNvSpPr/>
          <p:nvPr/>
        </p:nvSpPr>
        <p:spPr>
          <a:xfrm>
            <a:off x="59436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87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przestoju na 4 przekazania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943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Ping-pong zgłoszeń = ponad jeden pełny dzień roboczy w stracie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764024" y="3209544"/>
            <a:ext cx="4160520" cy="1463040"/>
          </a:xfrm>
          <a:prstGeom prst="rect">
            <a:avLst/>
          </a:prstGeom>
          <a:solidFill>
            <a:srgbClr val="8EAFC0">
              <a:alpha val="30000"/>
            </a:srgbClr>
          </a:solidFill>
          <a:ln w="12700">
            <a:solidFill>
              <a:srgbClr val="8EAFC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1546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154680"/>
            <a:ext cx="109728" cy="146304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46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3000"/>
          </a:p>
        </p:txBody>
      </p:sp>
      <p:sp>
        <p:nvSpPr>
          <p:cNvPr id="32" name="Text 30"/>
          <p:cNvSpPr/>
          <p:nvPr/>
        </p:nvSpPr>
        <p:spPr>
          <a:xfrm>
            <a:off x="493776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87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personelu IT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9377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Zgłasza chroniczne wypalenie zawodowe i zmęczenie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560320"/>
            <a:ext cx="5029200" cy="5029200"/>
          </a:xfrm>
          <a:prstGeom prst="ellipse">
            <a:avLst/>
          </a:prstGeom>
          <a:solidFill>
            <a:srgbClr val="8EAFC0">
              <a:alpha val="45000"/>
            </a:srgbClr>
          </a:solidFill>
          <a:ln w="12700">
            <a:solidFill>
              <a:srgbClr val="8EAFC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097280"/>
            <a:ext cx="4114800" cy="4114800"/>
          </a:xfrm>
          <a:prstGeom prst="ellipse">
            <a:avLst/>
          </a:prstGeom>
          <a:solidFill>
            <a:srgbClr val="2B4C5E">
              <a:alpha val="40000"/>
            </a:srgbClr>
          </a:solidFill>
          <a:ln w="12700">
            <a:solidFill>
              <a:srgbClr val="2B4C5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4A7C8E">
              <a:alpha val="45000"/>
            </a:srgbClr>
          </a:solidFill>
          <a:ln w="12700">
            <a:solidFill>
              <a:srgbClr val="4A7C8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ANALIZA KLIENTA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Segmentacja potencjalnych klientów B2B na rynku ITSM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44752"/>
            <a:ext cx="2651760" cy="502920"/>
          </a:xfrm>
          <a:prstGeom prst="rect">
            <a:avLst/>
          </a:prstGeom>
          <a:solidFill>
            <a:srgbClr val="8EAFC0"/>
          </a:solidFill>
          <a:ln w="12700">
            <a:solidFill>
              <a:srgbClr val="8EA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MAŁE FIRMY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8EA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10–50 pracowników IT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2377440" cy="27432"/>
          </a:xfrm>
          <a:prstGeom prst="rect">
            <a:avLst/>
          </a:prstGeom>
          <a:solidFill>
            <a:srgbClr val="8EAFC0">
              <a:alpha val="60000"/>
            </a:srgbClr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Brak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dedykowanych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narzędzi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ITSM</a:t>
            </a:r>
            <a:endParaRPr lang="en-US" sz="1050">
              <a:latin typeface="Arial"/>
              <a:cs typeface="Arial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Obsługa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ticketów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przez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e-mail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i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Excel</a:t>
            </a:r>
            <a:endParaRPr lang="en-US" sz="1050">
              <a:latin typeface="Arial"/>
              <a:cs typeface="Arial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Potrzeba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lekkiego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rozwiązania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SaaS</a:t>
            </a:r>
            <a:endParaRPr lang="en-US" sz="1050">
              <a:latin typeface="Arial"/>
              <a:cs typeface="Arial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Budżet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niski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liczy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się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err="1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szybki</a:t>
            </a:r>
            <a:r>
              <a:rPr lang="en-US" sz="1050">
                <a:solidFill>
                  <a:srgbClr val="1C2B33"/>
                </a:solidFill>
                <a:latin typeface="Arial"/>
                <a:ea typeface="Arial" pitchFamily="34" charset="-122"/>
                <a:cs typeface="Arial"/>
              </a:rPr>
              <a:t> ROI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444752"/>
            <a:ext cx="2651760" cy="502920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ŚREDNIE FIRMY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3383280" y="20391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 pracowników IT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3383280" y="2377440"/>
            <a:ext cx="2377440" cy="27432"/>
          </a:xfrm>
          <a:prstGeom prst="rect">
            <a:avLst/>
          </a:prstGeom>
          <a:solidFill>
            <a:srgbClr val="8EAFC0">
              <a:alpha val="60000"/>
            </a:srgbClr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450592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Stary system ITSM z długiem technologicznym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Manualne procesy triażu zgłoszeń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Wysokie koszty operacyjne (Cost per Ticket)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Potrzeba automatyzacji i AI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126480" y="1444752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444752"/>
            <a:ext cx="2651760" cy="502920"/>
          </a:xfrm>
          <a:prstGeom prst="rect">
            <a:avLst/>
          </a:prstGeom>
          <a:solidFill>
            <a:srgbClr val="2B4C5E"/>
          </a:solidFill>
          <a:ln w="12700">
            <a:solidFill>
              <a:srgbClr val="2B4C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DUŻE FIRMY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263640" y="20391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2B4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pracowników IT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263640" y="2377440"/>
            <a:ext cx="2377440" cy="27432"/>
          </a:xfrm>
          <a:prstGeom prst="rect">
            <a:avLst/>
          </a:prstGeom>
          <a:solidFill>
            <a:srgbClr val="8EAFC0">
              <a:alpha val="60000"/>
            </a:srgbClr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450592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10 000+ zgłoszeń miesięcznie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Rotacja kadr 30–45% rocznie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Wypalenie zawodowe — kryzys kadrowy</a:t>
            </a:r>
            <a:endParaRPr lang="en-US" sz="1050"/>
          </a:p>
          <a:p>
            <a:pPr marL="342900" indent="-342900" algn="l">
              <a:buSzPct val="100000"/>
              <a:buChar char="•"/>
            </a:pPr>
            <a:r>
              <a:rPr lang="en-US" sz="10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Potrzeba Agentic AI i integracji ITOM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560320"/>
            <a:ext cx="5029200" cy="5029200"/>
          </a:xfrm>
          <a:prstGeom prst="ellipse">
            <a:avLst/>
          </a:prstGeom>
          <a:solidFill>
            <a:srgbClr val="8EAFC0">
              <a:alpha val="45000"/>
            </a:srgbClr>
          </a:solidFill>
          <a:ln w="12700">
            <a:solidFill>
              <a:srgbClr val="8EAFC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097280"/>
            <a:ext cx="4114800" cy="4114800"/>
          </a:xfrm>
          <a:prstGeom prst="ellipse">
            <a:avLst/>
          </a:prstGeom>
          <a:solidFill>
            <a:srgbClr val="2B4C5E">
              <a:alpha val="40000"/>
            </a:srgbClr>
          </a:solidFill>
          <a:ln w="12700">
            <a:solidFill>
              <a:srgbClr val="2B4C5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4A7C8E">
              <a:alpha val="45000"/>
            </a:srgbClr>
          </a:solidFill>
          <a:ln w="12700">
            <a:solidFill>
              <a:srgbClr val="4A7C8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C4A"/>
          </a:solidFill>
          <a:ln w="12700">
            <a:solidFill>
              <a:srgbClr val="E87C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28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KONKURENCJA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głównych graczy na rynku ITSM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920240" cy="365760"/>
          </a:xfrm>
          <a:prstGeom prst="rect">
            <a:avLst/>
          </a:prstGeom>
          <a:solidFill>
            <a:srgbClr val="2B4C5E"/>
          </a:solidFill>
          <a:ln w="12700">
            <a:solidFill>
              <a:srgbClr val="2B4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NARZĘDZIE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395728" y="1298448"/>
            <a:ext cx="3127248" cy="3657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ZALETY ✓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687568" y="1298448"/>
            <a:ext cx="3127248" cy="365760"/>
          </a:xfrm>
          <a:prstGeom prst="rect">
            <a:avLst/>
          </a:prstGeom>
          <a:solidFill>
            <a:srgbClr val="8B2E2E"/>
          </a:solidFill>
          <a:ln w="12700">
            <a:solidFill>
              <a:srgbClr val="8B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WADY ✗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20040" y="1709928"/>
            <a:ext cx="1920240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95728" y="1709928"/>
            <a:ext cx="3127248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7568" y="1709928"/>
            <a:ext cx="3127248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75564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GetDX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487168" y="176479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z repozytoriów + CI/CD, wskaźnik odpowiedzi &gt;90%, benchmarki branżowe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5779008" y="176479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darmowego planu, roczny kontrakt, częste zmiany UI wymuszają szkolenia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20040" y="253288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5728" y="2532888"/>
            <a:ext cx="31272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87568" y="2532888"/>
            <a:ext cx="31272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57860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Jellyfish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2487168" y="258775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Automatyzacja kosztów R&amp;D, metryki DORA, wczesne ostrzeganie o zagrożeniach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5779008" y="258775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wersji testowej, dane 1x/dobę, postrzegane jako narzędzie nadzoru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20040" y="3355848"/>
            <a:ext cx="1920240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3355848"/>
            <a:ext cx="3127248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3355848"/>
            <a:ext cx="3127248" cy="777240"/>
          </a:xfrm>
          <a:prstGeom prst="rect">
            <a:avLst/>
          </a:prstGeom>
          <a:solidFill>
            <a:srgbClr val="F0F5F8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40156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Swarmia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2487168" y="341071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Metryki grupowe, zgodność EU Data Act, przejrzysty cennik, darmowy plan do 9 osób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5779008" y="341071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ankiet nastrojów, słabe wsparcie złożonych ekosystemów DevOps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320040" y="417880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4178808"/>
            <a:ext cx="31272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7568" y="4178808"/>
            <a:ext cx="31272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2245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Hatica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2487168" y="423367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Ochrona głębokiej pracy, od 19 USD/mies., wdrożenie lokalne z anonimizacją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5779008" y="423367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opóźnione 24h, ograniczona personalizacja, brak trybu ciemnego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560320"/>
            <a:ext cx="5029200" cy="5029200"/>
          </a:xfrm>
          <a:prstGeom prst="ellipse">
            <a:avLst/>
          </a:prstGeom>
          <a:solidFill>
            <a:srgbClr val="8EAFC0">
              <a:alpha val="45000"/>
            </a:srgbClr>
          </a:solidFill>
          <a:ln w="12700">
            <a:solidFill>
              <a:srgbClr val="8EAFC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097280"/>
            <a:ext cx="4114800" cy="4114800"/>
          </a:xfrm>
          <a:prstGeom prst="ellipse">
            <a:avLst/>
          </a:prstGeom>
          <a:solidFill>
            <a:srgbClr val="2B4C5E">
              <a:alpha val="40000"/>
            </a:srgbClr>
          </a:solidFill>
          <a:ln w="12700">
            <a:solidFill>
              <a:srgbClr val="2B4C5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4A7C8E">
              <a:alpha val="45000"/>
            </a:srgbClr>
          </a:solidFill>
          <a:ln w="12700">
            <a:solidFill>
              <a:srgbClr val="4A7C8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4C5E"/>
          </a:solidFill>
          <a:ln w="12700">
            <a:solidFill>
              <a:srgbClr val="2B4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ZESPÓŁ</a:t>
            </a:r>
            <a:endParaRPr lang="en-US" sz="4400"/>
          </a:p>
        </p:txBody>
      </p:sp>
      <p:sp>
        <p:nvSpPr>
          <p:cNvPr id="7" name="Shape 5"/>
          <p:cNvSpPr/>
          <p:nvPr/>
        </p:nvSpPr>
        <p:spPr>
          <a:xfrm>
            <a:off x="402336" y="1536192"/>
            <a:ext cx="1965960" cy="3246120"/>
          </a:xfrm>
          <a:prstGeom prst="rect">
            <a:avLst/>
          </a:prstGeom>
          <a:solidFill>
            <a:srgbClr val="8EAFC0">
              <a:alpha val="28000"/>
            </a:srgbClr>
          </a:solidFill>
          <a:ln w="12700">
            <a:solidFill>
              <a:srgbClr val="8EAFC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81328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" y="1664208"/>
            <a:ext cx="877824" cy="877824"/>
          </a:xfrm>
          <a:prstGeom prst="ellipse">
            <a:avLst/>
          </a:prstGeom>
          <a:solidFill>
            <a:srgbClr val="8EAFC0"/>
          </a:solidFill>
          <a:ln w="12700">
            <a:solidFill>
              <a:srgbClr val="8EA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" y="16642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438912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Adrian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38912" y="305409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Analyst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21792" y="3630168"/>
            <a:ext cx="1417320" cy="27432"/>
          </a:xfrm>
          <a:prstGeom prst="rect">
            <a:avLst/>
          </a:prstGeom>
          <a:solidFill>
            <a:srgbClr val="8EAFC0">
              <a:alpha val="70000"/>
            </a:srgbClr>
          </a:solidFill>
          <a:ln w="12700">
            <a:solidFill>
              <a:srgbClr val="8EAFC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21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rynku, badanie potrzeb klientów i trendów branżowych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2542032" y="1536192"/>
            <a:ext cx="1965960" cy="3246120"/>
          </a:xfrm>
          <a:prstGeom prst="rect">
            <a:avLst/>
          </a:prstGeom>
          <a:solidFill>
            <a:srgbClr val="8EAFC0">
              <a:alpha val="28000"/>
            </a:srgbClr>
          </a:solidFill>
          <a:ln w="12700">
            <a:solidFill>
              <a:srgbClr val="8EAFC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481328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1236" y="1664208"/>
            <a:ext cx="877824" cy="877824"/>
          </a:xfrm>
          <a:prstGeom prst="ellipse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1236" y="16642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2578608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Roman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2578608" y="305409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Analyst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761488" y="3630168"/>
            <a:ext cx="1417320" cy="27432"/>
          </a:xfrm>
          <a:prstGeom prst="rect">
            <a:avLst/>
          </a:prstGeom>
          <a:solidFill>
            <a:srgbClr val="8EAFC0">
              <a:alpha val="70000"/>
            </a:srgbClr>
          </a:solidFill>
          <a:ln w="12700">
            <a:solidFill>
              <a:srgbClr val="8EAFC0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3721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Zarządzanie produktem, priorytetyzacja funkcjonalności, badania rynku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4681728" y="1536192"/>
            <a:ext cx="1965960" cy="3246120"/>
          </a:xfrm>
          <a:prstGeom prst="rect">
            <a:avLst/>
          </a:prstGeom>
          <a:solidFill>
            <a:srgbClr val="8EAFC0">
              <a:alpha val="28000"/>
            </a:srgbClr>
          </a:solidFill>
          <a:ln w="12700">
            <a:solidFill>
              <a:srgbClr val="8EAFC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481328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70932" y="1664208"/>
            <a:ext cx="877824" cy="877824"/>
          </a:xfrm>
          <a:prstGeom prst="ellipse">
            <a:avLst/>
          </a:prstGeom>
          <a:solidFill>
            <a:srgbClr val="2B4C5E"/>
          </a:solidFill>
          <a:ln w="12700">
            <a:solidFill>
              <a:srgbClr val="2B4C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0932" y="16642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4718304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Piotr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4718304" y="305409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Strategist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901184" y="3630168"/>
            <a:ext cx="1417320" cy="27432"/>
          </a:xfrm>
          <a:prstGeom prst="rect">
            <a:avLst/>
          </a:prstGeom>
          <a:solidFill>
            <a:srgbClr val="8EAFC0">
              <a:alpha val="70000"/>
            </a:srgbClr>
          </a:solidFill>
          <a:ln w="12700">
            <a:solidFill>
              <a:srgbClr val="8EAFC0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3721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wejścia na rynek, model biznesowy, analiza rentowności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821424" y="1536192"/>
            <a:ext cx="1965960" cy="3246120"/>
          </a:xfrm>
          <a:prstGeom prst="rect">
            <a:avLst/>
          </a:prstGeom>
          <a:solidFill>
            <a:srgbClr val="8EAFC0">
              <a:alpha val="28000"/>
            </a:srgbClr>
          </a:solidFill>
          <a:ln w="12700">
            <a:solidFill>
              <a:srgbClr val="8EAFC0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1481328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AFC0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0628" y="1664208"/>
            <a:ext cx="877824" cy="877824"/>
          </a:xfrm>
          <a:prstGeom prst="ellipse">
            <a:avLst/>
          </a:prstGeom>
          <a:solidFill>
            <a:srgbClr val="2B4C5E"/>
          </a:solidFill>
          <a:ln w="12700">
            <a:solidFill>
              <a:srgbClr val="2B4C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0628" y="16642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800"/>
          </a:p>
        </p:txBody>
      </p:sp>
      <p:sp>
        <p:nvSpPr>
          <p:cNvPr id="35" name="Text 33"/>
          <p:cNvSpPr/>
          <p:nvPr/>
        </p:nvSpPr>
        <p:spPr>
          <a:xfrm>
            <a:off x="685800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4C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Jakub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6858000" y="305409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Designer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4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Designer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7040880" y="3630168"/>
            <a:ext cx="1417320" cy="27432"/>
          </a:xfrm>
          <a:prstGeom prst="rect">
            <a:avLst/>
          </a:prstGeom>
          <a:solidFill>
            <a:srgbClr val="8EAFC0">
              <a:alpha val="70000"/>
            </a:srgbClr>
          </a:solidFill>
          <a:ln w="12700">
            <a:solidFill>
              <a:srgbClr val="8EAFC0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721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C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Projektowanie interfejsu, doświadczenie użytkownika, prototypowanie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2026-04-16T03:11:15Z</dcterms:created>
  <dcterms:modified xsi:type="dcterms:W3CDTF">2026-04-16T05:56:14Z</dcterms:modified>
</cp:coreProperties>
</file>